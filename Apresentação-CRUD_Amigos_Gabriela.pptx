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8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652881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Desenvolvimento de Sistemas II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464040" y="652881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Gabriela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"/>
            <a:ext cx="12191695" cy="182880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85800" y="566928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CRUD de Amigos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04088" y="12344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EBFA"/>
                </a:solidFill>
              </a:rPr>
              <a:t>Desenvolvimento de Sistemas II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" y="23317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976D2"/>
                </a:solidFill>
              </a:rPr>
              <a:t>PHP + MySQL + Login + CRUD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13232" y="283464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</a:rPr>
              <a:t>Apresentação do funcionamento completo do sistema “Amigos da Gabi”, incluindo autenticação, cadastro, consulta, edição, exclusão e logout.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12280" y="2331720"/>
            <a:ext cx="461772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  <a:effectLst>
            <a:outerShdw blurRad="25400" dist="50800" dir="2700000" algn="bl" rotWithShape="0">
              <a:srgbClr val="9AA7B5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178040" y="26700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47A1"/>
                </a:solidFill>
              </a:rPr>
              <a:t>Fluxo do sistema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406640" y="3127248"/>
            <a:ext cx="201168" cy="201168"/>
          </a:xfrm>
          <a:prstGeom prst="ellipse">
            <a:avLst/>
          </a:prstGeom>
          <a:solidFill>
            <a:srgbClr val="1976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726680" y="31181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Login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06640" y="3465576"/>
            <a:ext cx="201168" cy="201168"/>
          </a:xfrm>
          <a:prstGeom prst="ellipse">
            <a:avLst/>
          </a:prstGeom>
          <a:solidFill>
            <a:srgbClr val="1976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726680" y="34564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Lista de amigos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06640" y="3803904"/>
            <a:ext cx="201168" cy="2011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726680" y="37947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Create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406640" y="4142232"/>
            <a:ext cx="201168" cy="201168"/>
          </a:xfrm>
          <a:prstGeom prst="ellipse">
            <a:avLst/>
          </a:prstGeom>
          <a:solidFill>
            <a:srgbClr val="FB8C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726680" y="41330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Update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406640" y="4480560"/>
            <a:ext cx="201168" cy="201168"/>
          </a:xfrm>
          <a:prstGeom prst="ellipse">
            <a:avLst/>
          </a:prstGeom>
          <a:solidFill>
            <a:srgbClr val="D32F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726680" y="447141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Delete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06640" y="4818888"/>
            <a:ext cx="201168" cy="20116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726680" y="480974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Logout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47A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Visão geral do projeto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O sistema combina autenticação por sessão com as quatro operações CRUD.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429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73152" cy="132588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41248" y="1499616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76D2"/>
                </a:solidFill>
              </a:rPr>
              <a:t>Login e sessão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1810512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O usuário entra no sistema, a senha é validada e uma sessão PHP mantém o acesso às páginas protegidas.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70832" y="1371600"/>
            <a:ext cx="3429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370832" y="1371600"/>
            <a:ext cx="73152" cy="1325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572000" y="1499616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</a:rPr>
              <a:t>Create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1810512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Cadastro de novos amigos com nome, telefone e e-mail.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01584" y="1371600"/>
            <a:ext cx="3429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101584" y="1371600"/>
            <a:ext cx="73152" cy="132588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302752" y="1499616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</a:rPr>
              <a:t>Read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02752" y="1810512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Listagem dos registros existentes em uma tabela HTML.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487168" y="3063240"/>
            <a:ext cx="3429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2487168" y="3063240"/>
            <a:ext cx="73152" cy="132588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2688336" y="3191256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8C00"/>
                </a:solidFill>
              </a:rPr>
              <a:t>Update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88336" y="3502152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Edição dos dados de um amigo já cadastrado.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17920" y="3063240"/>
            <a:ext cx="3429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217920" y="3063240"/>
            <a:ext cx="73152" cy="132588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419088" y="3191256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32F2F"/>
                </a:solidFill>
              </a:rPr>
              <a:t>Delete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19088" y="3502152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Exclusão com confirmação antes de remover o registro.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487168" y="4709160"/>
            <a:ext cx="7159752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2487168" y="4709160"/>
            <a:ext cx="73152" cy="109728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2688336" y="4837176"/>
            <a:ext cx="6848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76D2"/>
                </a:solidFill>
              </a:rPr>
              <a:t>Segurança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688336" y="5148072"/>
            <a:ext cx="6848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Prepared Statements nas consultas, htmlspecialchars() na saída e password_hash()/password_verify() no login.</a:t>
            </a:r>
            <a:endParaRPr lang="en-US" sz="12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47A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Tela de login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A entrada no sistema exige autenticação antes de liberar o CRUD.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927080" y="365760"/>
            <a:ext cx="512064" cy="512064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927080" y="461772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21040" y="438912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</a:rPr>
              <a:t>Etapa 1 de 11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10725912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  <a:effectLst>
            <a:outerShdw blurRad="25400" dist="50800" dir="2700000" algn="bl" rotWithShape="0">
              <a:srgbClr val="9AA7B5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0" descr="/mnt/data/Screenshot_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298448"/>
            <a:ext cx="10597896" cy="41239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8368" y="5742432"/>
            <a:ext cx="10881360" cy="566928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C8D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822960" y="5861304"/>
            <a:ext cx="10552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7A1"/>
                </a:solidFill>
              </a:rPr>
              <a:t>Etapa 1 — Login  </a:t>
            </a:r>
            <a:r>
              <a:rPr lang="en-US" sz="1300" dirty="0">
                <a:solidFill>
                  <a:srgbClr val="1F2937"/>
                </a:solidFill>
              </a:rPr>
              <a:t>O usuário inicia na tela de autenticação.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47A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Autenticação do usuário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Usuário utilizado no teste: gabi_hash.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927080" y="365760"/>
            <a:ext cx="512064" cy="512064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927080" y="461772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21040" y="438912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</a:rPr>
              <a:t>Etapa 2 de 11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10725912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  <a:effectLst>
            <a:outerShdw blurRad="25400" dist="50800" dir="2700000" algn="bl" rotWithShape="0">
              <a:srgbClr val="9AA7B5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0" descr="/mnt/data/Screenshot_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298448"/>
            <a:ext cx="10597896" cy="41239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8368" y="5742432"/>
            <a:ext cx="10881360" cy="566928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C8D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822960" y="5861304"/>
            <a:ext cx="10552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7A1"/>
                </a:solidFill>
              </a:rPr>
              <a:t>Etapa 2 — Credenciais  </a:t>
            </a:r>
            <a:r>
              <a:rPr lang="en-US" sz="1300" dirty="0">
                <a:solidFill>
                  <a:srgbClr val="1F2937"/>
                </a:solidFill>
              </a:rPr>
              <a:t>A senha é digitada de forma oculta e validada contra o hash salvo no banco.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47A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Consulta dos amigos cadastrados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Após o login, o sistema apresenta a lista de amigos e as ações disponíveis.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927080" y="365760"/>
            <a:ext cx="512064" cy="512064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927080" y="461772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21040" y="438912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</a:rPr>
              <a:t>Etapa 3 de 11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10725912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  <a:effectLst>
            <a:outerShdw blurRad="25400" dist="50800" dir="2700000" algn="bl" rotWithShape="0">
              <a:srgbClr val="9AA7B5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0" descr="/mnt/data/Screenshot_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298448"/>
            <a:ext cx="10597896" cy="41239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8368" y="5742432"/>
            <a:ext cx="10881360" cy="566928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C8D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822960" y="5861304"/>
            <a:ext cx="10552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7A1"/>
                </a:solidFill>
              </a:rPr>
              <a:t>Etapa 3 — Read  </a:t>
            </a:r>
            <a:r>
              <a:rPr lang="en-US" sz="1300" dirty="0">
                <a:solidFill>
                  <a:srgbClr val="1F2937"/>
                </a:solidFill>
              </a:rPr>
              <a:t>A página principal lê os registros da tabela amigos e exibe Editar e Excluir.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47A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Cadastro para teste de edição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Primeiro registro criado para demonstrar a operação Update.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927080" y="365760"/>
            <a:ext cx="512064" cy="512064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927080" y="461772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21040" y="438912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</a:rPr>
              <a:t>Etapa 4 de 11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10725912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  <a:effectLst>
            <a:outerShdw blurRad="25400" dist="50800" dir="2700000" algn="bl" rotWithShape="0">
              <a:srgbClr val="9AA7B5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0" descr="/mnt/data/Screenshot_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298448"/>
            <a:ext cx="10597896" cy="41239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8368" y="5742432"/>
            <a:ext cx="10881360" cy="566928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C8D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822960" y="5861304"/>
            <a:ext cx="10552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7A1"/>
                </a:solidFill>
              </a:rPr>
              <a:t>Etapa 4 — Create  </a:t>
            </a:r>
            <a:r>
              <a:rPr lang="en-US" sz="1300" dirty="0">
                <a:solidFill>
                  <a:srgbClr val="1F2937"/>
                </a:solidFill>
              </a:rPr>
              <a:t>O formulário recebe os dados de “Gabriela - Editar”.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47A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Cadastro para teste de exclusão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Segundo registro criado para demonstrar a operação Delete.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927080" y="365760"/>
            <a:ext cx="512064" cy="512064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927080" y="461772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21040" y="438912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</a:rPr>
              <a:t>Etapa 5 de 11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10725912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  <a:effectLst>
            <a:outerShdw blurRad="25400" dist="50800" dir="2700000" algn="bl" rotWithShape="0">
              <a:srgbClr val="9AA7B5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0" descr="/mnt/data/Screenshot_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298448"/>
            <a:ext cx="10597896" cy="41239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8368" y="5742432"/>
            <a:ext cx="10881360" cy="566928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C8D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822960" y="5861304"/>
            <a:ext cx="10552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7A1"/>
                </a:solidFill>
              </a:rPr>
              <a:t>Etapa 5 — Create  </a:t>
            </a:r>
            <a:r>
              <a:rPr lang="en-US" sz="1300" dirty="0">
                <a:solidFill>
                  <a:srgbClr val="1F2937"/>
                </a:solidFill>
              </a:rPr>
              <a:t>O sistema confirma o </a:t>
            </a:r>
            <a:r>
              <a:rPr lang="en-US" sz="1300" dirty="0" err="1">
                <a:solidFill>
                  <a:srgbClr val="1F2937"/>
                </a:solidFill>
              </a:rPr>
              <a:t>cadastro</a:t>
            </a:r>
            <a:r>
              <a:rPr lang="en-US" sz="1300" dirty="0">
                <a:solidFill>
                  <a:srgbClr val="1F2937"/>
                </a:solidFill>
              </a:rPr>
              <a:t> de “Gabriela – </a:t>
            </a:r>
            <a:r>
              <a:rPr lang="en-US" sz="1300" dirty="0" err="1">
                <a:solidFill>
                  <a:srgbClr val="1F2937"/>
                </a:solidFill>
              </a:rPr>
              <a:t>Editar</a:t>
            </a:r>
            <a:r>
              <a:rPr lang="en-US" sz="1300" dirty="0">
                <a:solidFill>
                  <a:srgbClr val="1F2937"/>
                </a:solidFill>
              </a:rPr>
              <a:t>” e </a:t>
            </a:r>
            <a:r>
              <a:rPr lang="en-US" sz="1300" dirty="0" err="1">
                <a:solidFill>
                  <a:srgbClr val="1F2937"/>
                </a:solidFill>
              </a:rPr>
              <a:t>recebe</a:t>
            </a:r>
            <a:r>
              <a:rPr lang="en-US" sz="1300" dirty="0">
                <a:solidFill>
                  <a:srgbClr val="1F2937"/>
                </a:solidFill>
              </a:rPr>
              <a:t> </a:t>
            </a:r>
            <a:r>
              <a:rPr lang="en-US" sz="1300" dirty="0" err="1">
                <a:solidFill>
                  <a:srgbClr val="1F2937"/>
                </a:solidFill>
              </a:rPr>
              <a:t>os</a:t>
            </a:r>
            <a:r>
              <a:rPr lang="en-US" sz="1300" dirty="0">
                <a:solidFill>
                  <a:srgbClr val="1F2937"/>
                </a:solidFill>
              </a:rPr>
              <a:t> dados de  “Gabriela - Excluir”.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47A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Lista após os cadastros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Os novos registros aparecem imediatamente na página principal.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927080" y="365760"/>
            <a:ext cx="512064" cy="512064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927080" y="461772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21040" y="438912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</a:rPr>
              <a:t>Etapa 6 de 11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10725912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  <a:effectLst>
            <a:outerShdw blurRad="25400" dist="50800" dir="2700000" algn="bl" rotWithShape="0">
              <a:srgbClr val="9AA7B5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0" descr="/mnt/data/Screenshot_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298448"/>
            <a:ext cx="10597896" cy="41239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8368" y="5742432"/>
            <a:ext cx="10881360" cy="566928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C8D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822960" y="5861304"/>
            <a:ext cx="10552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7A1"/>
                </a:solidFill>
              </a:rPr>
              <a:t>Etapa 6 — Read  </a:t>
            </a:r>
            <a:r>
              <a:rPr lang="en-US" sz="1300" dirty="0">
                <a:solidFill>
                  <a:srgbClr val="1F2937"/>
                </a:solidFill>
              </a:rPr>
              <a:t>A listagem confirma que os dois novos amigos foram salvos no banco.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47A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Edição de um registro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O registro “Gabriela - Editar” é alterado para “Gabriela - Editada”.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927080" y="365760"/>
            <a:ext cx="512064" cy="512064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927080" y="461772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21040" y="438912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</a:rPr>
              <a:t>Etapa 7 de 11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10725912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  <a:effectLst>
            <a:outerShdw blurRad="25400" dist="50800" dir="2700000" algn="bl" rotWithShape="0">
              <a:srgbClr val="9AA7B5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0" descr="/mnt/data/Screenshot_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298448"/>
            <a:ext cx="10597896" cy="41239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8368" y="5742432"/>
            <a:ext cx="10881360" cy="566928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C8D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822960" y="5861304"/>
            <a:ext cx="10552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7A1"/>
                </a:solidFill>
              </a:rPr>
              <a:t>Etapa 7 — Update  </a:t>
            </a:r>
            <a:r>
              <a:rPr lang="en-US" sz="1300" dirty="0">
                <a:solidFill>
                  <a:srgbClr val="1F2937"/>
                </a:solidFill>
              </a:rPr>
              <a:t>Os dados atuais são carregados no formulário antes da alteração.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47A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 da edição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A atualização é refletida na lista principal.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927080" y="365760"/>
            <a:ext cx="512064" cy="512064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927080" y="461772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21040" y="438912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</a:rPr>
              <a:t>Etapa 8 de 11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10725912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  <a:effectLst>
            <a:outerShdw blurRad="25400" dist="50800" dir="2700000" algn="bl" rotWithShape="0">
              <a:srgbClr val="9AA7B5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0" descr="/mnt/data/Screenshot_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298448"/>
            <a:ext cx="10597896" cy="41239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8368" y="5742432"/>
            <a:ext cx="10881360" cy="566928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C8D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822960" y="5861304"/>
            <a:ext cx="10552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7A1"/>
                </a:solidFill>
              </a:rPr>
              <a:t>Etapa 8 — Update concluído  </a:t>
            </a:r>
            <a:r>
              <a:rPr lang="en-US" sz="1300" dirty="0">
                <a:solidFill>
                  <a:srgbClr val="1F2937"/>
                </a:solidFill>
              </a:rPr>
              <a:t>O registro passa a aparecer como “Gabriela - Editada”.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47A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Confirmação de exclusão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Antes de remover o registro, o sistema solicita confirmação.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927080" y="365760"/>
            <a:ext cx="512064" cy="512064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927080" y="461772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21040" y="438912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</a:rPr>
              <a:t>Etapa 9 de 11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10725912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  <a:effectLst>
            <a:outerShdw blurRad="25400" dist="50800" dir="2700000" algn="bl" rotWithShape="0">
              <a:srgbClr val="9AA7B5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0" descr="/mnt/data/Screenshot_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298448"/>
            <a:ext cx="10597896" cy="41239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8368" y="5742432"/>
            <a:ext cx="10881360" cy="566928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C8D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822960" y="5861304"/>
            <a:ext cx="10552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7A1"/>
                </a:solidFill>
              </a:rPr>
              <a:t>Etapa 9 — Delete  </a:t>
            </a:r>
            <a:r>
              <a:rPr lang="en-US" sz="1300" dirty="0">
                <a:solidFill>
                  <a:srgbClr val="1F2937"/>
                </a:solidFill>
              </a:rPr>
              <a:t>A confirmação reduz o risco de exclusão acidental.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47A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 da exclusão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Após confirmar, “Gabriela - Excluir” deixa de aparecer na listagem.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927080" y="365760"/>
            <a:ext cx="512064" cy="512064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927080" y="461772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21040" y="438912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</a:rPr>
              <a:t>Etapa 10 de 11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10725912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  <a:effectLst>
            <a:outerShdw blurRad="25400" dist="50800" dir="2700000" algn="bl" rotWithShape="0">
              <a:srgbClr val="9AA7B5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0" descr="/mnt/data/Screenshot_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298448"/>
            <a:ext cx="10597896" cy="41239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8368" y="5742432"/>
            <a:ext cx="10881360" cy="566928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C8D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822960" y="5861304"/>
            <a:ext cx="10552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7A1"/>
                </a:solidFill>
              </a:rPr>
              <a:t>Etapa 10 — Delete concluído  </a:t>
            </a:r>
            <a:r>
              <a:rPr lang="en-US" sz="1300" dirty="0">
                <a:solidFill>
                  <a:srgbClr val="1F2937"/>
                </a:solidFill>
              </a:rPr>
              <a:t>O registro foi removido do banco de dados.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47A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Logout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O botão Sair encerra a sessão e retorna o usuário para a tela de login.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927080" y="365760"/>
            <a:ext cx="512064" cy="512064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927080" y="461772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21040" y="438912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</a:rPr>
              <a:t>Etapa 11 de 11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10725912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  <a:effectLst>
            <a:outerShdw blurRad="25400" dist="50800" dir="2700000" algn="bl" rotWithShape="0">
              <a:srgbClr val="9AA7B5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0" descr="/mnt/data/Screenshot_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298448"/>
            <a:ext cx="10597896" cy="41239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8368" y="5742432"/>
            <a:ext cx="10881360" cy="566928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C8D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822960" y="5861304"/>
            <a:ext cx="10552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7A1"/>
                </a:solidFill>
              </a:rPr>
              <a:t>Etapa 11 — Logout  </a:t>
            </a:r>
            <a:r>
              <a:rPr lang="en-US" sz="1300" dirty="0">
                <a:solidFill>
                  <a:srgbClr val="1F2937"/>
                </a:solidFill>
              </a:rPr>
              <a:t>A sessão é finalizada e o acesso ao CRUD volta a exigir autenticação.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47A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Conclusão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O projeto demonstra o ciclo completo de uso do sistema.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  <a:effectLst>
            <a:outerShdw blurRad="25400" dist="50800" dir="2700000" algn="bl" rotWithShape="0">
              <a:srgbClr val="9AA7B5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51560" y="1783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47A1"/>
                </a:solidFill>
              </a:rPr>
              <a:t>O que foi demonstrado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97280" y="2331720"/>
            <a:ext cx="164592" cy="164592"/>
          </a:xfrm>
          <a:prstGeom prst="ellipse">
            <a:avLst/>
          </a:prstGeom>
          <a:solidFill>
            <a:srgbClr val="1976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417320" y="22677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Login com senha protegida por hash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2770632"/>
            <a:ext cx="164592" cy="164592"/>
          </a:xfrm>
          <a:prstGeom prst="ellipse">
            <a:avLst/>
          </a:prstGeom>
          <a:solidFill>
            <a:srgbClr val="1976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417320" y="270662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Controle de acesso por sessão PHP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97280" y="3209544"/>
            <a:ext cx="164592" cy="16459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417320" y="314553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Cadastro e consulta de amigos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97280" y="3648456"/>
            <a:ext cx="164592" cy="164592"/>
          </a:xfrm>
          <a:prstGeom prst="ellipse">
            <a:avLst/>
          </a:prstGeom>
          <a:solidFill>
            <a:srgbClr val="FB8C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417320" y="3584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Edição de registros existentes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97280" y="4087368"/>
            <a:ext cx="164592" cy="164592"/>
          </a:xfrm>
          <a:prstGeom prst="ellipse">
            <a:avLst/>
          </a:prstGeom>
          <a:solidFill>
            <a:srgbClr val="D32F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417320" y="4023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Exclusão com confirmação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97280" y="4526280"/>
            <a:ext cx="164592" cy="16459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417320" y="44622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Logout e encerramento da sessão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37960" y="1828800"/>
            <a:ext cx="4160520" cy="3291840"/>
          </a:xfrm>
          <a:prstGeom prst="roundRect">
            <a:avLst/>
          </a:prstGeom>
          <a:solidFill>
            <a:srgbClr val="EEF6FD"/>
          </a:solidFill>
          <a:ln w="12700">
            <a:solidFill>
              <a:srgbClr val="C9DD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903720" y="21488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47A1"/>
                </a:solidFill>
              </a:rPr>
              <a:t>Principais conceitos aplicados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95160" y="2880360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F2937"/>
                </a:solidFill>
              </a:rPr>
              <a:t>PHP + MySQL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1F2937"/>
                </a:solidFill>
              </a:rPr>
              <a:t>Prepared Statements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1F2937"/>
                </a:solidFill>
              </a:rPr>
              <a:t>htmlspecialchars()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1F2937"/>
                </a:solidFill>
              </a:rPr>
              <a:t>password_hash() / password_verify()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1F2937"/>
                </a:solidFill>
              </a:rPr>
              <a:t>$_SESSION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652</Words>
  <Application>Microsoft Office PowerPoint</Application>
  <PresentationFormat>Widescreen</PresentationFormat>
  <Paragraphs>123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ETEC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CRUD de Amigos</dc:title>
  <dc:subject>CRUD de Amigos</dc:subject>
  <dc:creator>Gabriela</dc:creator>
  <cp:lastModifiedBy>Pedro Sakuma</cp:lastModifiedBy>
  <cp:revision>2</cp:revision>
  <dcterms:created xsi:type="dcterms:W3CDTF">2026-09-28T23:51:40Z</dcterms:created>
  <dcterms:modified xsi:type="dcterms:W3CDTF">2026-09-29T00:01:10Z</dcterms:modified>
</cp:coreProperties>
</file>